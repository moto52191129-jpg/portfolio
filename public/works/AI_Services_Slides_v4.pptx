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00A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480</c:v>
                </c:pt>
                <c:pt idx="2">
                  <c:v>620</c:v>
                </c:pt>
                <c:pt idx="3">
                  <c:v>750</c:v>
                </c:pt>
                <c:pt idx="4">
                  <c:v>910</c:v>
                </c:pt>
                <c:pt idx="5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3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3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914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数時間の作業を、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94360" y="1737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数分で。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</a:rPr>
              <a:t>AI で業務を自動化し、あなたの時間を取り戻す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スライド自動生成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図解デザイン生成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電話営業自動化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[YOUR_NAME]  |  AI Business Solutions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あなたのビジネスに、こんな課題はありませんか？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資料作成に時間がかかりすぎる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提案書・スライド作成に毎回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3〜4時間。コア業務に集中できない。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営業の人件費が重い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93008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架電スタッフの採用・教育コストが高く、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成果もばらつく。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08776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417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5936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情報が伝わらない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45936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複雑な概念や数値を説明しても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相手に伝わらず、商談が進まない。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3つのAIサービスで、業務を根本から変える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スライド自動生成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テキストを入れるだけで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デザイン済みスライドを即生成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55848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727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図解デザイン生成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93008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複雑な情報を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わかりやすい図解に自動変換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8776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08776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0216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727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電話営業自動化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45936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AIが架電・会話・記録を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自動化し営業コストを大幅削減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F7FC"/>
          </a:solidFill>
          <a:ln w="12700">
            <a:solidFill>
              <a:srgbClr val="E8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スライド自動生成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テキストを入力するだけで、プロ品質のスライドをAIが即座に生成します。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5760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BEFORE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・提案書作成に毎回3〜4時間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・デザインにセンスが必要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・修正のたびにゼロからやり直し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・担当者によって品質がバラバラ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606040"/>
            <a:ext cx="438912" cy="237744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60604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9472" y="1463040"/>
            <a:ext cx="3721608" cy="2697480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572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ADD"/>
                </a:solidFill>
              </a:rPr>
              <a:t>AFTER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02352" y="190195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・入力から完成まで平均20分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・デザインは自動で統一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・ブランドテンプレートで即展開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・誰でもプロ品質の資料を作れる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315968"/>
            <a:ext cx="8138160" cy="5669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80%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作業時間削減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平均20分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完成までの時間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PPTX / Gスライド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出力形式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図解デザイン生成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複雑な概念・業務フロー・数値データを、AIが瞬時にわかりやすい図解に変換します。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653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業務フロー図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0665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社内プロセスをわかりやすく可視化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82312" y="1481328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データビジュアル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13832" y="20665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数値・比較を一目で伝わるグラフに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844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提案書の図解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34440" y="37856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サービスの仕組みを図解で直感的に説明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82312" y="3200400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8444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13832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SNS・資料用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13832" y="37856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インフォグラフィックを自動生成・即投稿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電話営業自動化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AIエージェントが架電・会話・記録を自動化。人件費を抑えながら営業スケールを最大化します。</a:t>
            </a:r>
            <a:endParaRPr lang="en-US" sz="1300" dirty="0"/>
          </a:p>
        </p:txBody>
      </p:sp>
      <p:sp>
        <p:nvSpPr>
          <p:cNvPr id="6" name="FlowBg"/>
          <p:cNvSpPr/>
          <p:nvPr/>
        </p:nvSpPr>
        <p:spPr>
          <a:xfrm>
            <a:off x="365760" y="1390680"/>
            <a:ext cx="841248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200" name="line12"/>
          <p:cNvSpPr/>
          <p:nvPr/>
        </p:nvSpPr>
        <p:spPr>
          <a:xfrm>
            <a:off x="1097280" y="1929384"/>
            <a:ext cx="457200" cy="0"/>
          </a:xfrm>
          <a:prstGeom prst="LINE">
            <a:avLst/>
          </a:prstGeom>
          <a:noFill/>
          <a:ln w="19050">
            <a:solidFill>
              <a:srgbClr val="00AADD"/>
            </a:solidFill>
          </a:ln>
        </p:spPr>
      </p:sp>
      <p:sp>
        <p:nvSpPr>
          <p:cNvPr id="201" name="arr12"/>
          <p:cNvSpPr/>
          <p:nvPr/>
        </p:nvSpPr>
        <p:spPr>
          <a:xfrm>
            <a:off x="1508760" y="1874424"/>
            <a:ext cx="114300" cy="109728"/>
          </a:xfrm>
          <a:prstGeom prst="rightArrow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202" name="line23"/>
          <p:cNvSpPr/>
          <p:nvPr/>
        </p:nvSpPr>
        <p:spPr>
          <a:xfrm>
            <a:off x="2743200" y="1929384"/>
            <a:ext cx="457200" cy="0"/>
          </a:xfrm>
          <a:prstGeom prst="LINE">
            <a:avLst/>
          </a:prstGeom>
          <a:noFill/>
          <a:ln w="19050">
            <a:solidFill>
              <a:srgbClr val="00AADD"/>
            </a:solidFill>
          </a:ln>
        </p:spPr>
      </p:sp>
      <p:sp>
        <p:nvSpPr>
          <p:cNvPr id="203" name="arr23"/>
          <p:cNvSpPr/>
          <p:nvPr/>
        </p:nvSpPr>
        <p:spPr>
          <a:xfrm>
            <a:off x="3154680" y="1874424"/>
            <a:ext cx="114300" cy="109728"/>
          </a:xfrm>
          <a:prstGeom prst="rightArrow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204" name="line34"/>
          <p:cNvSpPr/>
          <p:nvPr/>
        </p:nvSpPr>
        <p:spPr>
          <a:xfrm>
            <a:off x="4389120" y="1929384"/>
            <a:ext cx="457200" cy="0"/>
          </a:xfrm>
          <a:prstGeom prst="LINE">
            <a:avLst/>
          </a:prstGeom>
          <a:noFill/>
          <a:ln w="19050">
            <a:solidFill>
              <a:srgbClr val="00AADD"/>
            </a:solidFill>
          </a:ln>
        </p:spPr>
      </p:sp>
      <p:sp>
        <p:nvSpPr>
          <p:cNvPr id="205" name="arr34"/>
          <p:cNvSpPr/>
          <p:nvPr/>
        </p:nvSpPr>
        <p:spPr>
          <a:xfrm>
            <a:off x="4800600" y="1874424"/>
            <a:ext cx="114300" cy="109728"/>
          </a:xfrm>
          <a:prstGeom prst="rightArrow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206" name="line45"/>
          <p:cNvSpPr/>
          <p:nvPr/>
        </p:nvSpPr>
        <p:spPr>
          <a:xfrm>
            <a:off x="6035040" y="1929384"/>
            <a:ext cx="457200" cy="0"/>
          </a:xfrm>
          <a:prstGeom prst="LINE">
            <a:avLst/>
          </a:prstGeom>
          <a:noFill/>
          <a:ln w="19050">
            <a:solidFill>
              <a:srgbClr val="00AADD"/>
            </a:solidFill>
          </a:ln>
        </p:spPr>
      </p:sp>
      <p:sp>
        <p:nvSpPr>
          <p:cNvPr id="207" name="arr45"/>
          <p:cNvSpPr/>
          <p:nvPr/>
        </p:nvSpPr>
        <p:spPr>
          <a:xfrm>
            <a:off x="6446520" y="1874424"/>
            <a:ext cx="114300" cy="109728"/>
          </a:xfrm>
          <a:prstGeom prst="rightArrow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01" name="card1"/>
          <p:cNvSpPr/>
          <p:nvPr/>
        </p:nvSpPr>
        <p:spPr>
          <a:xfrm>
            <a:off x="502920" y="1463040"/>
            <a:ext cx="1188720" cy="93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DD"/>
            </a:solidFill>
          </a:ln>
          <a:effectLst>
            <a:outerShdw blurRad="60960" dist="20320" dir="5400000" rotWithShape="0">
              <a:srgbClr val="000000">
                <a:alpha val="8000"/>
              </a:srgbClr>
            </a:outerShdw>
          </a:effectLst>
        </p:spPr>
      </p:sp>
      <p:sp>
        <p:nvSpPr>
          <p:cNvPr id="111" name="badge1"/>
          <p:cNvSpPr/>
          <p:nvPr/>
        </p:nvSpPr>
        <p:spPr>
          <a:xfrm>
            <a:off x="502920" y="1463040"/>
            <a:ext cx="1188720" cy="201168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12" name="badge1txt"/>
          <p:cNvSpPr/>
          <p:nvPr/>
        </p:nvSpPr>
        <p:spPr>
          <a:xfrm>
            <a:off x="502920" y="1463040"/>
            <a:ext cx="11887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3" name="label1"/>
          <p:cNvSpPr/>
          <p:nvPr/>
        </p:nvSpPr>
        <p:spPr>
          <a:xfrm>
            <a:off x="502920" y="1700496"/>
            <a:ext cx="1188720" cy="6959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b="1" dirty="0">
                <a:solidFill>
                  <a:srgbClr val="1E293B"/>
                </a:solidFill>
              </a:rPr>
              <a:t>リスト取込</a:t>
            </a:r>
          </a:p>
        </p:txBody>
      </p:sp>
      <p:sp>
        <p:nvSpPr>
          <p:cNvPr id="102" name="card2"/>
          <p:cNvSpPr/>
          <p:nvPr/>
        </p:nvSpPr>
        <p:spPr>
          <a:xfrm>
            <a:off x="2148840" y="1463040"/>
            <a:ext cx="1188720" cy="93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DD"/>
            </a:solidFill>
          </a:ln>
          <a:effectLst>
            <a:outerShdw blurRad="60960" dist="20320" dir="5400000" rotWithShape="0">
              <a:srgbClr val="000000">
                <a:alpha val="8000"/>
              </a:srgbClr>
            </a:outerShdw>
          </a:effectLst>
        </p:spPr>
      </p:sp>
      <p:sp>
        <p:nvSpPr>
          <p:cNvPr id="121" name="badge2"/>
          <p:cNvSpPr/>
          <p:nvPr/>
        </p:nvSpPr>
        <p:spPr>
          <a:xfrm>
            <a:off x="2148840" y="1463040"/>
            <a:ext cx="1188720" cy="201168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22" name="badge2txt"/>
          <p:cNvSpPr/>
          <p:nvPr/>
        </p:nvSpPr>
        <p:spPr>
          <a:xfrm>
            <a:off x="2148840" y="1463040"/>
            <a:ext cx="11887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3" name="label2"/>
          <p:cNvSpPr/>
          <p:nvPr/>
        </p:nvSpPr>
        <p:spPr>
          <a:xfrm>
            <a:off x="2148840" y="1700496"/>
            <a:ext cx="1188720" cy="6959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b="1" dirty="0">
                <a:solidFill>
                  <a:srgbClr val="1E293B"/>
                </a:solidFill>
              </a:rPr>
              <a:t>自動架電</a:t>
            </a:r>
          </a:p>
        </p:txBody>
      </p:sp>
      <p:sp>
        <p:nvSpPr>
          <p:cNvPr id="103" name="card3"/>
          <p:cNvSpPr/>
          <p:nvPr/>
        </p:nvSpPr>
        <p:spPr>
          <a:xfrm>
            <a:off x="3794760" y="1463040"/>
            <a:ext cx="1188720" cy="932400"/>
          </a:xfrm>
          <a:prstGeom prst="rect">
            <a:avLst/>
          </a:prstGeom>
          <a:solidFill>
            <a:srgbClr val="00AADD"/>
          </a:solidFill>
          <a:ln w="0">
            <a:noFill/>
          </a:ln>
          <a:effectLst>
            <a:outerShdw blurRad="76200" dist="25400" dir="5400000" rotWithShape="0">
              <a:srgbClr val="00AADD">
                <a:alpha val="30000"/>
              </a:srgbClr>
            </a:outerShdw>
          </a:effectLst>
        </p:spPr>
      </p:sp>
      <p:sp>
        <p:nvSpPr>
          <p:cNvPr id="131" name="badge3"/>
          <p:cNvSpPr/>
          <p:nvPr/>
        </p:nvSpPr>
        <p:spPr>
          <a:xfrm>
            <a:off x="3794760" y="1463040"/>
            <a:ext cx="1188720" cy="201168"/>
          </a:xfrm>
          <a:prstGeom prst="rect">
            <a:avLst/>
          </a:prstGeom>
          <a:solidFill>
            <a:srgbClr val="0088BB"/>
          </a:solidFill>
          <a:ln w="0">
            <a:noFill/>
          </a:ln>
        </p:spPr>
      </p:sp>
      <p:sp>
        <p:nvSpPr>
          <p:cNvPr id="132" name="badge3txt"/>
          <p:cNvSpPr/>
          <p:nvPr/>
        </p:nvSpPr>
        <p:spPr>
          <a:xfrm>
            <a:off x="3794760" y="1463040"/>
            <a:ext cx="11887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3" name="label3"/>
          <p:cNvSpPr/>
          <p:nvPr/>
        </p:nvSpPr>
        <p:spPr>
          <a:xfrm>
            <a:off x="3794760" y="1700496"/>
            <a:ext cx="1188720" cy="6959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AI 会話</a:t>
            </a:r>
          </a:p>
        </p:txBody>
      </p:sp>
      <p:sp>
        <p:nvSpPr>
          <p:cNvPr id="104" name="card4"/>
          <p:cNvSpPr/>
          <p:nvPr/>
        </p:nvSpPr>
        <p:spPr>
          <a:xfrm>
            <a:off x="5440680" y="1463040"/>
            <a:ext cx="1188720" cy="93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DD"/>
            </a:solidFill>
          </a:ln>
          <a:effectLst>
            <a:outerShdw blurRad="60960" dist="20320" dir="5400000" rotWithShape="0">
              <a:srgbClr val="000000">
                <a:alpha val="8000"/>
              </a:srgbClr>
            </a:outerShdw>
          </a:effectLst>
        </p:spPr>
      </p:sp>
      <p:sp>
        <p:nvSpPr>
          <p:cNvPr id="141" name="badge4"/>
          <p:cNvSpPr/>
          <p:nvPr/>
        </p:nvSpPr>
        <p:spPr>
          <a:xfrm>
            <a:off x="5440680" y="1463040"/>
            <a:ext cx="1188720" cy="201168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42" name="badge4txt"/>
          <p:cNvSpPr/>
          <p:nvPr/>
        </p:nvSpPr>
        <p:spPr>
          <a:xfrm>
            <a:off x="5440680" y="1463040"/>
            <a:ext cx="11887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3" name="label4"/>
          <p:cNvSpPr/>
          <p:nvPr/>
        </p:nvSpPr>
        <p:spPr>
          <a:xfrm>
            <a:off x="5440680" y="1700496"/>
            <a:ext cx="1188720" cy="6959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b="1" dirty="0">
                <a:solidFill>
                  <a:srgbClr val="1E293B"/>
                </a:solidFill>
              </a:rPr>
              <a:t>結果記録</a:t>
            </a:r>
          </a:p>
        </p:txBody>
      </p:sp>
      <p:sp>
        <p:nvSpPr>
          <p:cNvPr id="105" name="card5"/>
          <p:cNvSpPr/>
          <p:nvPr/>
        </p:nvSpPr>
        <p:spPr>
          <a:xfrm>
            <a:off x="7086600" y="1463040"/>
            <a:ext cx="1188720" cy="93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DD"/>
            </a:solidFill>
          </a:ln>
          <a:effectLst>
            <a:outerShdw blurRad="60960" dist="20320" dir="5400000" rotWithShape="0">
              <a:srgbClr val="000000">
                <a:alpha val="8000"/>
              </a:srgbClr>
            </a:outerShdw>
          </a:effectLst>
        </p:spPr>
      </p:sp>
      <p:sp>
        <p:nvSpPr>
          <p:cNvPr id="151" name="badge5"/>
          <p:cNvSpPr/>
          <p:nvPr/>
        </p:nvSpPr>
        <p:spPr>
          <a:xfrm>
            <a:off x="7086600" y="1463040"/>
            <a:ext cx="1188720" cy="201168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52" name="badge5txt"/>
          <p:cNvSpPr/>
          <p:nvPr/>
        </p:nvSpPr>
        <p:spPr>
          <a:xfrm>
            <a:off x="7086600" y="1463040"/>
            <a:ext cx="118872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3" name="label5"/>
          <p:cNvSpPr/>
          <p:nvPr/>
        </p:nvSpPr>
        <p:spPr>
          <a:xfrm>
            <a:off x="7086600" y="1700496"/>
            <a:ext cx="1188720" cy="69595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b="1" dirty="0">
                <a:solidFill>
                  <a:srgbClr val="1E293B"/>
                </a:solidFill>
              </a:rPr>
              <a:t>CRM連携</a:t>
            </a:r>
          </a:p>
        </p:txBody>
      </p:sp>
      <p:sp>
        <p:nvSpPr>
          <p:cNvPr id="160" name="stat1bg"/>
          <p:cNvSpPr/>
          <p:nvPr/>
        </p:nvSpPr>
        <p:spPr>
          <a:xfrm>
            <a:off x="365760" y="2670360"/>
            <a:ext cx="265176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60960" dist="20320" dir="5400000" rotWithShape="0">
              <a:srgbClr val="000000">
                <a:alpha val="6000"/>
              </a:srgbClr>
            </a:outerShdw>
          </a:effectLst>
        </p:spPr>
      </p:sp>
      <p:sp>
        <p:nvSpPr>
          <p:cNvPr id="161" name="stat1top"/>
          <p:cNvSpPr/>
          <p:nvPr/>
        </p:nvSpPr>
        <p:spPr>
          <a:xfrm>
            <a:off x="365760" y="2670360"/>
            <a:ext cx="2651760" cy="73152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62" name="stat1num"/>
          <p:cNvSpPr/>
          <p:nvPr/>
        </p:nvSpPr>
        <p:spPr>
          <a:xfrm>
            <a:off x="365760" y="2780496"/>
            <a:ext cx="2651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1E293B"/>
                </a:solidFill>
              </a:rPr>
              <a:t>60</a:t>
            </a:r>
            <a:r>
              <a:rPr lang="en-US" sz="2800" b="1" dirty="0">
                <a:solidFill>
                  <a:srgbClr val="00AADD"/>
                </a:solidFill>
              </a:rPr>
              <a:t>%</a:t>
            </a:r>
          </a:p>
        </p:txBody>
      </p:sp>
      <p:sp>
        <p:nvSpPr>
          <p:cNvPr id="163" name="stat1lbl"/>
          <p:cNvSpPr/>
          <p:nvPr/>
        </p:nvSpPr>
        <p:spPr>
          <a:xfrm>
            <a:off x="365760" y="3548232"/>
            <a:ext cx="265176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1E293B"/>
                </a:solidFill>
              </a:rPr>
              <a:t>営業コスト削減</a:t>
            </a:r>
          </a:p>
        </p:txBody>
      </p:sp>
      <p:sp>
        <p:nvSpPr>
          <p:cNvPr id="164" name="stat1sub"/>
          <p:cNvSpPr/>
          <p:nvPr/>
        </p:nvSpPr>
        <p:spPr>
          <a:xfrm>
            <a:off x="365760" y="3876744"/>
            <a:ext cx="2651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950" dirty="0">
                <a:solidFill>
                  <a:srgbClr val="64748B"/>
                </a:solidFill>
              </a:rPr>
              <a:t>人件費・管理費含む</a:t>
            </a:r>
          </a:p>
        </p:txBody>
      </p:sp>
      <p:sp>
        <p:nvSpPr>
          <p:cNvPr id="170" name="stat2bg"/>
          <p:cNvSpPr/>
          <p:nvPr/>
        </p:nvSpPr>
        <p:spPr>
          <a:xfrm>
            <a:off x="3246120" y="2670360"/>
            <a:ext cx="265176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60960" dist="20320" dir="5400000" rotWithShape="0">
              <a:srgbClr val="000000">
                <a:alpha val="6000"/>
              </a:srgbClr>
            </a:outerShdw>
          </a:effectLst>
        </p:spPr>
      </p:sp>
      <p:sp>
        <p:nvSpPr>
          <p:cNvPr id="171" name="stat2top"/>
          <p:cNvSpPr/>
          <p:nvPr/>
        </p:nvSpPr>
        <p:spPr>
          <a:xfrm>
            <a:off x="3246120" y="2670360"/>
            <a:ext cx="2651760" cy="73152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72" name="stat2num"/>
          <p:cNvSpPr/>
          <p:nvPr/>
        </p:nvSpPr>
        <p:spPr>
          <a:xfrm>
            <a:off x="3246120" y="2780496"/>
            <a:ext cx="2651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1E293B"/>
                </a:solidFill>
              </a:rPr>
              <a:t>1,000</a:t>
            </a:r>
            <a:r>
              <a:rPr lang="en-US" sz="2200" b="1" dirty="0">
                <a:solidFill>
                  <a:srgbClr val="00AADD"/>
                </a:solidFill>
              </a:rPr>
              <a:t>件+</a:t>
            </a:r>
          </a:p>
        </p:txBody>
      </p:sp>
      <p:sp>
        <p:nvSpPr>
          <p:cNvPr id="173" name="stat2lbl"/>
          <p:cNvSpPr/>
          <p:nvPr/>
        </p:nvSpPr>
        <p:spPr>
          <a:xfrm>
            <a:off x="3246120" y="3548232"/>
            <a:ext cx="265176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1E293B"/>
                </a:solidFill>
              </a:rPr>
              <a:t>月間自動架電数</a:t>
            </a:r>
          </a:p>
        </p:txBody>
      </p:sp>
      <p:sp>
        <p:nvSpPr>
          <p:cNvPr id="174" name="stat2sub"/>
          <p:cNvSpPr/>
          <p:nvPr/>
        </p:nvSpPr>
        <p:spPr>
          <a:xfrm>
            <a:off x="3246120" y="3876744"/>
            <a:ext cx="2651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950" dirty="0">
                <a:solidFill>
                  <a:srgbClr val="64748B"/>
                </a:solidFill>
              </a:rPr>
              <a:t>24時間365日稼働</a:t>
            </a:r>
          </a:p>
        </p:txBody>
      </p:sp>
      <p:sp>
        <p:nvSpPr>
          <p:cNvPr id="180" name="stat3bg"/>
          <p:cNvSpPr/>
          <p:nvPr/>
        </p:nvSpPr>
        <p:spPr>
          <a:xfrm>
            <a:off x="6126480" y="2670360"/>
            <a:ext cx="265176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60960" dist="20320" dir="5400000" rotWithShape="0">
              <a:srgbClr val="000000">
                <a:alpha val="6000"/>
              </a:srgbClr>
            </a:outerShdw>
          </a:effectLst>
        </p:spPr>
      </p:sp>
      <p:sp>
        <p:nvSpPr>
          <p:cNvPr id="181" name="stat3top"/>
          <p:cNvSpPr/>
          <p:nvPr/>
        </p:nvSpPr>
        <p:spPr>
          <a:xfrm>
            <a:off x="6126480" y="2670360"/>
            <a:ext cx="2651760" cy="73152"/>
          </a:xfrm>
          <a:prstGeom prst="rect">
            <a:avLst/>
          </a:prstGeom>
          <a:solidFill>
            <a:srgbClr val="00AADD"/>
          </a:solidFill>
          <a:ln w="0">
            <a:noFill/>
          </a:ln>
        </p:spPr>
      </p:sp>
      <p:sp>
        <p:nvSpPr>
          <p:cNvPr id="182" name="stat3num"/>
          <p:cNvSpPr/>
          <p:nvPr/>
        </p:nvSpPr>
        <p:spPr>
          <a:xfrm>
            <a:off x="6126480" y="2780496"/>
            <a:ext cx="2651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4400" b="1" dirty="0">
                <a:solidFill>
                  <a:srgbClr val="1E293B"/>
                </a:solidFill>
              </a:rPr>
              <a:t>即日</a:t>
            </a:r>
          </a:p>
        </p:txBody>
      </p:sp>
      <p:sp>
        <p:nvSpPr>
          <p:cNvPr id="183" name="stat3lbl"/>
          <p:cNvSpPr/>
          <p:nvPr/>
        </p:nvSpPr>
        <p:spPr>
          <a:xfrm>
            <a:off x="6126480" y="3548232"/>
            <a:ext cx="2651760" cy="2926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1E293B"/>
                </a:solidFill>
              </a:rPr>
              <a:t>CRM自動記録</a:t>
            </a:r>
          </a:p>
        </p:txBody>
      </p:sp>
      <p:sp>
        <p:nvSpPr>
          <p:cNvPr id="184" name="stat3sub"/>
          <p:cNvSpPr/>
          <p:nvPr/>
        </p:nvSpPr>
        <p:spPr>
          <a:xfrm>
            <a:off x="6126480" y="3876744"/>
            <a:ext cx="2651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950" dirty="0">
                <a:solidFill>
                  <a:srgbClr val="64748B"/>
                </a:solidFill>
              </a:rPr>
              <a:t>Salesforce/HubSpot連携</a:t>
            </a:r>
          </a:p>
        </p:txBody>
      </p:sp>
      <p:sp>
        <p:nvSpPr>
          <p:cNvPr id="37" name="Shape 3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導入事例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51760" cy="9144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人材紹介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スライド自動生成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提案書作成に毎回3〜4時間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64208" y="2999232"/>
            <a:ext cx="329184" cy="329184"/>
          </a:xfrm>
          <a:prstGeom prst="oval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ADD"/>
                </a:solidFill>
              </a:rPr>
              <a:t>AFTER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平均20分に短縮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25696"/>
            <a:ext cx="2377440" cy="20116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月40時間削減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115568"/>
            <a:ext cx="265176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008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ITスタートアップ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9300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図解デザイン生成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93008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投資家資料の図解が属人化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17136" y="2999232"/>
            <a:ext cx="329184" cy="329184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55F7"/>
                </a:solidFill>
              </a:rPr>
              <a:t>AFTER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93008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作成コスト70%削減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93008" y="4425696"/>
            <a:ext cx="237744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資金調達成功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115568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不動産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4593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電話営業自動化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45936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45936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架電スタッフ3名の人件費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70064" y="2999232"/>
            <a:ext cx="329184" cy="329184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</a:rPr>
              <a:t>AFTER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45936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月1,000件を自動架電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45936" y="4425696"/>
            <a:ext cx="237744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コスト60%削減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bar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</a:ln>
        </p:spPr>
      </p:sp>
      <p:sp>
        <p:nvSpPr>
          <p:cNvPr id="3" name="labeltext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RESULTS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6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</a:rPr>
              <a:t>数字で見る実績</a:t>
            </a:r>
          </a:p>
        </p:txBody>
      </p:sp>
      <p:sp>
        <p:nvSpPr>
          <p:cNvPr id="5" name="dashedbox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iconcircle"/>
          <p:cNvSpPr/>
          <p:nvPr/>
        </p:nvSpPr>
        <p:spPr>
          <a:xfrm>
            <a:off x="3886200" y="1645920"/>
            <a:ext cx="457200" cy="457200"/>
          </a:xfrm>
          <a:prstGeom prst="oval">
            <a:avLst/>
          </a:prstGeom>
          <a:solidFill>
            <a:srgbClr val="E8F7FC"/>
          </a:solidFill>
          <a:ln w="19050">
            <a:solidFill>
              <a:srgbClr val="00AADD"/>
            </a:solidFill>
          </a:ln>
        </p:spPr>
      </p:sp>
      <p:sp>
        <p:nvSpPr>
          <p:cNvPr id="7" name="clockicon"/>
          <p:cNvSpPr/>
          <p:nvPr/>
        </p:nvSpPr>
        <p:spPr>
          <a:xfrm>
            <a:off x="3886200" y="164592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800" dirty="0">
                <a:solidFill>
                  <a:srgbClr val="00AADD"/>
                </a:solidFill>
              </a:rPr>
              <a:t>⏳</a:t>
            </a:r>
          </a:p>
        </p:txBody>
      </p:sp>
      <p:sp>
        <p:nvSpPr>
          <p:cNvPr id="8" name="mainmsg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24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</a:rPr>
              <a:t>実績掲載予定</a:t>
            </a:r>
          </a:p>
        </p:txBody>
      </p:sp>
      <p:sp>
        <p:nvSpPr>
          <p:cNvPr id="9" name="submsg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ja-JP" sz="1200" dirty="0">
                <a:solidFill>
                  <a:srgbClr val="64748B"/>
                </a:solidFill>
              </a:rPr>
              <a:t>サービス提供開始後、順次更新予定です。</a:t>
            </a:r>
          </a:p>
        </p:txBody>
      </p:sp>
      <p:sp>
        <p:nvSpPr>
          <p:cNvPr id="10" name="pc1"/>
          <p:cNvSpPr/>
          <p:nvPr/>
        </p:nvSpPr>
        <p:spPr>
          <a:xfrm>
            <a:off x="365760" y="4206480"/>
            <a:ext cx="2651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11" name="pc1txt"/>
          <p:cNvSpPr/>
          <p:nvPr/>
        </p:nvSpPr>
        <p:spPr>
          <a:xfrm>
            <a:off x="365760" y="4206480"/>
            <a:ext cx="265176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dirty="0">
                <a:solidFill>
                  <a:srgbClr val="94A3B8"/>
                </a:solidFill>
              </a:rPr>
              <a:t>累計導入実績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— 準備中 —</a:t>
            </a:r>
          </a:p>
        </p:txBody>
      </p:sp>
      <p:sp>
        <p:nvSpPr>
          <p:cNvPr id="12" name="pc2"/>
          <p:cNvSpPr/>
          <p:nvPr/>
        </p:nvSpPr>
        <p:spPr>
          <a:xfrm>
            <a:off x="3246120" y="4206480"/>
            <a:ext cx="2651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13" name="pc2txt"/>
          <p:cNvSpPr/>
          <p:nvPr/>
        </p:nvSpPr>
        <p:spPr>
          <a:xfrm>
            <a:off x="3246120" y="4206480"/>
            <a:ext cx="265176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dirty="0">
                <a:solidFill>
                  <a:srgbClr val="94A3B8"/>
                </a:solidFill>
              </a:rPr>
              <a:t>平均コスト削減率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— 準備中 —</a:t>
            </a:r>
          </a:p>
        </p:txBody>
      </p:sp>
      <p:sp>
        <p:nvSpPr>
          <p:cNvPr id="14" name="pc3"/>
          <p:cNvSpPr/>
          <p:nvPr/>
        </p:nvSpPr>
        <p:spPr>
          <a:xfrm>
            <a:off x="6126480" y="4206480"/>
            <a:ext cx="2651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15" name="pc3txt"/>
          <p:cNvSpPr/>
          <p:nvPr/>
        </p:nvSpPr>
        <p:spPr>
          <a:xfrm>
            <a:off x="6126480" y="4206480"/>
            <a:ext cx="265176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ja-JP" sz="1100" dirty="0">
                <a:solidFill>
                  <a:srgbClr val="94A3B8"/>
                </a:solidFill>
              </a:rPr>
              <a:t>顧客満足度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— 準備中 —</a:t>
            </a:r>
          </a:p>
        </p:txBody>
      </p:sp>
      <p:sp>
        <p:nvSpPr>
          <p:cNvPr id="16" name="footerbar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</p:sp>
      <p:sp>
        <p:nvSpPr>
          <p:cNvPr id="17" name="footertxt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</a:p>
        </p:txBody>
      </p:sp>
      <p:sp>
        <p:nvSpPr>
          <p:cNvPr id="18" name="pagenum"/>
          <p:cNvSpPr/>
          <p:nvPr/>
        </p:nvSpPr>
        <p:spPr>
          <a:xfrm>
            <a:off x="8046720" y="49789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導入の流れ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最短14日でのリリースを実現します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984248"/>
            <a:ext cx="7223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無料相談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課題・ゴールを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ヒアリング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76272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76272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9736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736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ご提案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76272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ソリューションと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費用をご提示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04288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2-3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契約・着手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0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設計・開発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スタート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68496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68496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4-10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04688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テスト・確認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04688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デモ確認・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FB反映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32704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11-13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68896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68896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68896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納品・サポート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68896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本番リリース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運用サポート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96912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14〜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371600" y="4626864"/>
            <a:ext cx="640080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46268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まずは無料相談からお気軽にどうぞ →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754880" cy="4754880"/>
          </a:xfrm>
          <a:prstGeom prst="oval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3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あなたのビジネスに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AIの力を。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今すぐ無料相談して、業務を変えませんか。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926080" cy="54864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無料相談を予約する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2788920"/>
            <a:ext cx="2926080" cy="5486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実績を詳しく見る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[YOUR_NAME]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📧 [CONTACT_EMAIL]　　𝕏 [SNS_X_URL]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スライド自動生成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図解デザイン生成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電話営業自動化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Solutions — サービス紹介</dc:title>
  <dc:subject>PptxGenJS Presentation</dc:subject>
  <dc:creator>PptxGenJS</dc:creator>
  <cp:lastModifiedBy>PptxGenJS</cp:lastModifiedBy>
  <cp:revision>1</cp:revision>
  <dcterms:created xsi:type="dcterms:W3CDTF">2026-03-18T14:22:06Z</dcterms:created>
  <dcterms:modified xsi:type="dcterms:W3CDTF">2026-03-18T14:22:06Z</dcterms:modified>
</cp:coreProperties>
</file>